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2" r:id="rId7"/>
    <p:sldId id="263" r:id="rId8"/>
    <p:sldId id="264" r:id="rId9"/>
    <p:sldId id="267"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88" d="100"/>
          <a:sy n="88" d="100"/>
        </p:scale>
        <p:origin x="49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12/16/2025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12/16/2025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12/16/2025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12/16/2025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12/16/2025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GB" dirty="0" smtClean="0">
                <a:latin typeface="Times New Roman" panose="02020603050405020304" pitchFamily="18" charset="0"/>
                <a:cs typeface="Times New Roman" panose="02020603050405020304" pitchFamily="18" charset="0"/>
              </a:rPr>
              <a:t>WELCOME</a:t>
            </a:r>
            <a:r>
              <a:rPr lang="en-GB" dirty="0" smtClean="0"/>
              <a:t> </a:t>
            </a:r>
            <a:endParaRPr lang="en-US" dirty="0"/>
          </a:p>
        </p:txBody>
      </p:sp>
      <p:sp>
        <p:nvSpPr>
          <p:cNvPr id="3" name="Subtitle 2"/>
          <p:cNvSpPr>
            <a:spLocks noGrp="1"/>
          </p:cNvSpPr>
          <p:nvPr>
            <p:ph type="subTitle" idx="1"/>
          </p:nvPr>
        </p:nvSpPr>
        <p:spPr/>
        <p:txBody>
          <a:bodyPr>
            <a:normAutofit/>
          </a:bodyPr>
          <a:lstStyle/>
          <a:p>
            <a:pPr algn="ctr"/>
            <a:r>
              <a:rPr lang="en-GB" sz="3600" b="1" dirty="0" smtClean="0">
                <a:latin typeface="Times New Roman" panose="02020603050405020304" pitchFamily="18" charset="0"/>
                <a:cs typeface="Times New Roman" panose="02020603050405020304" pitchFamily="18" charset="0"/>
              </a:rPr>
              <a:t>WHEAT SEEDS CLASSIFICATION </a:t>
            </a: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08912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92480"/>
          </a:xfrm>
        </p:spPr>
        <p:txBody>
          <a:bodyPr/>
          <a:lstStyle/>
          <a:p>
            <a:pPr algn="ctr"/>
            <a:r>
              <a:rPr lang="en-GB" dirty="0" smtClean="0">
                <a:latin typeface="Times New Roman" panose="02020603050405020304" pitchFamily="18" charset="0"/>
                <a:cs typeface="Times New Roman" panose="02020603050405020304" pitchFamily="18" charset="0"/>
              </a:rPr>
              <a:t>Group - 10</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593669"/>
            <a:ext cx="3833706" cy="4447693"/>
          </a:xfrm>
        </p:spPr>
        <p:txBody>
          <a:bodyPr/>
          <a:lstStyle/>
          <a:p>
            <a:pPr marL="0" indent="0">
              <a:buNone/>
            </a:pPr>
            <a:r>
              <a:rPr lang="en-GB" dirty="0" smtClean="0">
                <a:latin typeface="Times New Roman" panose="02020603050405020304" pitchFamily="18" charset="0"/>
                <a:cs typeface="Times New Roman" panose="02020603050405020304" pitchFamily="18" charset="0"/>
              </a:rPr>
              <a:t>SUBMITTED BY : </a:t>
            </a:r>
          </a:p>
          <a:p>
            <a:pPr marL="0" indent="0">
              <a:buNone/>
            </a:pPr>
            <a:r>
              <a:rPr lang="en-GB" dirty="0" smtClean="0">
                <a:latin typeface="Times New Roman" panose="02020603050405020304" pitchFamily="18" charset="0"/>
                <a:cs typeface="Times New Roman" panose="02020603050405020304" pitchFamily="18" charset="0"/>
              </a:rPr>
              <a:t>1. TABASSUM MAHARIN MUMU</a:t>
            </a:r>
          </a:p>
          <a:p>
            <a:pPr marL="0" indent="0">
              <a:buNone/>
            </a:pPr>
            <a:r>
              <a:rPr lang="en-GB" dirty="0">
                <a:latin typeface="Times New Roman" panose="02020603050405020304" pitchFamily="18" charset="0"/>
                <a:cs typeface="Times New Roman" panose="02020603050405020304" pitchFamily="18" charset="0"/>
              </a:rPr>
              <a:t> </a:t>
            </a:r>
            <a:r>
              <a:rPr lang="en-GB" dirty="0" smtClean="0">
                <a:latin typeface="Times New Roman" panose="02020603050405020304" pitchFamily="18" charset="0"/>
                <a:cs typeface="Times New Roman" panose="02020603050405020304" pitchFamily="18" charset="0"/>
              </a:rPr>
              <a:t>     2021-3-60-162</a:t>
            </a:r>
          </a:p>
          <a:p>
            <a:pPr marL="0" indent="0">
              <a:buNone/>
            </a:pPr>
            <a:r>
              <a:rPr lang="en-GB" dirty="0" smtClean="0">
                <a:latin typeface="Times New Roman" panose="02020603050405020304" pitchFamily="18" charset="0"/>
                <a:cs typeface="Times New Roman" panose="02020603050405020304" pitchFamily="18" charset="0"/>
              </a:rPr>
              <a:t>2. UMME AIMAN PROMI </a:t>
            </a:r>
          </a:p>
          <a:p>
            <a:pPr marL="0" indent="0">
              <a:buNone/>
            </a:pPr>
            <a:r>
              <a:rPr lang="en-GB" dirty="0">
                <a:latin typeface="Times New Roman" panose="02020603050405020304" pitchFamily="18" charset="0"/>
                <a:cs typeface="Times New Roman" panose="02020603050405020304" pitchFamily="18" charset="0"/>
              </a:rPr>
              <a:t> </a:t>
            </a:r>
            <a:r>
              <a:rPr lang="en-GB" dirty="0" smtClean="0">
                <a:latin typeface="Times New Roman" panose="02020603050405020304" pitchFamily="18" charset="0"/>
                <a:cs typeface="Times New Roman" panose="02020603050405020304" pitchFamily="18" charset="0"/>
              </a:rPr>
              <a:t>   2021-3-60-168</a:t>
            </a:r>
          </a:p>
          <a:p>
            <a:pPr marL="0" indent="0">
              <a:buNone/>
            </a:pPr>
            <a:r>
              <a:rPr lang="en-GB" dirty="0" smtClean="0">
                <a:latin typeface="Times New Roman" panose="02020603050405020304" pitchFamily="18" charset="0"/>
                <a:cs typeface="Times New Roman" panose="02020603050405020304" pitchFamily="18" charset="0"/>
              </a:rPr>
              <a:t>3. TANVIR AHMED RATUL </a:t>
            </a:r>
          </a:p>
          <a:p>
            <a:pPr marL="0" indent="0">
              <a:buNone/>
            </a:pPr>
            <a:r>
              <a:rPr lang="en-GB" dirty="0">
                <a:latin typeface="Times New Roman" panose="02020603050405020304" pitchFamily="18" charset="0"/>
                <a:cs typeface="Times New Roman" panose="02020603050405020304" pitchFamily="18" charset="0"/>
              </a:rPr>
              <a:t> </a:t>
            </a:r>
            <a:r>
              <a:rPr lang="en-GB" dirty="0" smtClean="0">
                <a:latin typeface="Times New Roman" panose="02020603050405020304" pitchFamily="18" charset="0"/>
                <a:cs typeface="Times New Roman" panose="02020603050405020304" pitchFamily="18" charset="0"/>
              </a:rPr>
              <a:t>    2021-3-60-140 </a:t>
            </a:r>
          </a:p>
          <a:p>
            <a:pPr marL="0" indent="0">
              <a:buNone/>
            </a:pPr>
            <a:endParaRPr lang="en-GB" dirty="0" smtClean="0"/>
          </a:p>
        </p:txBody>
      </p:sp>
      <p:sp>
        <p:nvSpPr>
          <p:cNvPr id="4" name="TextBox 3"/>
          <p:cNvSpPr txBox="1"/>
          <p:nvPr/>
        </p:nvSpPr>
        <p:spPr>
          <a:xfrm>
            <a:off x="6601098" y="1593669"/>
            <a:ext cx="2864493" cy="1200329"/>
          </a:xfrm>
          <a:prstGeom prst="rect">
            <a:avLst/>
          </a:prstGeom>
          <a:noFill/>
        </p:spPr>
        <p:txBody>
          <a:bodyPr wrap="square" rtlCol="0">
            <a:spAutoFit/>
          </a:bodyPr>
          <a:lstStyle/>
          <a:p>
            <a:r>
              <a:rPr lang="en-GB" dirty="0" smtClean="0">
                <a:latin typeface="Times New Roman" panose="02020603050405020304" pitchFamily="18" charset="0"/>
                <a:cs typeface="Times New Roman" panose="02020603050405020304" pitchFamily="18" charset="0"/>
              </a:rPr>
              <a:t>SUBITTED TO : </a:t>
            </a:r>
          </a:p>
          <a:p>
            <a:r>
              <a:rPr lang="en-US" dirty="0">
                <a:latin typeface="Times New Roman" panose="02020603050405020304" pitchFamily="18" charset="0"/>
                <a:cs typeface="Times New Roman" panose="02020603050405020304" pitchFamily="18" charset="0"/>
              </a:rPr>
              <a:t>Dr. </a:t>
            </a:r>
            <a:r>
              <a:rPr lang="en-US" dirty="0" err="1">
                <a:latin typeface="Times New Roman" panose="02020603050405020304" pitchFamily="18" charset="0"/>
                <a:cs typeface="Times New Roman" panose="02020603050405020304" pitchFamily="18" charset="0"/>
              </a:rPr>
              <a:t>Raihan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Ul</a:t>
            </a:r>
            <a:r>
              <a:rPr lang="en-US" dirty="0">
                <a:latin typeface="Times New Roman" panose="02020603050405020304" pitchFamily="18" charset="0"/>
                <a:cs typeface="Times New Roman" panose="02020603050405020304" pitchFamily="18" charset="0"/>
              </a:rPr>
              <a:t> Islam (DRUI)</a:t>
            </a:r>
          </a:p>
          <a:p>
            <a:r>
              <a:rPr lang="en-US" dirty="0">
                <a:latin typeface="Times New Roman" panose="02020603050405020304" pitchFamily="18" charset="0"/>
                <a:cs typeface="Times New Roman" panose="02020603050405020304" pitchFamily="18" charset="0"/>
              </a:rPr>
              <a:t>Associate Professor</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Dept. of CSE.</a:t>
            </a:r>
          </a:p>
        </p:txBody>
      </p:sp>
    </p:spTree>
    <p:extLst>
      <p:ext uri="{BB962C8B-B14F-4D97-AF65-F5344CB8AC3E}">
        <p14:creationId xmlns:p14="http://schemas.microsoft.com/office/powerpoint/2010/main" val="1809398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27017"/>
          </a:xfrm>
        </p:spPr>
        <p:txBody>
          <a:bodyPr>
            <a:normAutofit fontScale="90000"/>
          </a:bodyPr>
          <a:lstStyle/>
          <a:p>
            <a:r>
              <a:rPr lang="en-GB" dirty="0" smtClean="0"/>
              <a:t>DATA SET DESCRIPTION </a:t>
            </a:r>
            <a:endParaRPr lang="en-US" dirty="0"/>
          </a:p>
        </p:txBody>
      </p:sp>
      <p:sp>
        <p:nvSpPr>
          <p:cNvPr id="3" name="Content Placeholder 2"/>
          <p:cNvSpPr>
            <a:spLocks noGrp="1"/>
          </p:cNvSpPr>
          <p:nvPr>
            <p:ph idx="1"/>
          </p:nvPr>
        </p:nvSpPr>
        <p:spPr>
          <a:xfrm>
            <a:off x="677333" y="1175657"/>
            <a:ext cx="9241729" cy="4865705"/>
          </a:xfrm>
        </p:spPr>
        <p:txBody>
          <a:bodyPr/>
          <a:lstStyle/>
          <a:p>
            <a:pPr marL="0" indent="0">
              <a:buNone/>
            </a:pPr>
            <a:r>
              <a:rPr lang="en-GB" dirty="0" smtClean="0">
                <a:latin typeface="Times New Roman" panose="02020603050405020304" pitchFamily="18" charset="0"/>
                <a:cs typeface="Times New Roman" panose="02020603050405020304" pitchFamily="18" charset="0"/>
              </a:rPr>
              <a:t>We used the wheat seed dataset , which is organized into three labelled classes:</a:t>
            </a:r>
          </a:p>
          <a:p>
            <a:pPr>
              <a:buFont typeface="+mj-lt"/>
              <a:buAutoNum type="arabicPeriod"/>
            </a:pPr>
            <a:r>
              <a:rPr lang="en-GB" dirty="0" smtClean="0">
                <a:latin typeface="Times New Roman" panose="02020603050405020304" pitchFamily="18" charset="0"/>
                <a:cs typeface="Times New Roman" panose="02020603050405020304" pitchFamily="18" charset="0"/>
              </a:rPr>
              <a:t>Akbar </a:t>
            </a:r>
          </a:p>
          <a:p>
            <a:pPr>
              <a:buFont typeface="+mj-lt"/>
              <a:buAutoNum type="arabicPeriod"/>
            </a:pPr>
            <a:r>
              <a:rPr lang="en-GB" dirty="0" err="1" smtClean="0">
                <a:latin typeface="Times New Roman" panose="02020603050405020304" pitchFamily="18" charset="0"/>
                <a:cs typeface="Times New Roman" panose="02020603050405020304" pitchFamily="18" charset="0"/>
              </a:rPr>
              <a:t>Uruj</a:t>
            </a:r>
            <a:r>
              <a:rPr lang="en-GB" dirty="0" smtClean="0">
                <a:latin typeface="Times New Roman" panose="02020603050405020304" pitchFamily="18" charset="0"/>
                <a:cs typeface="Times New Roman" panose="02020603050405020304" pitchFamily="18" charset="0"/>
              </a:rPr>
              <a:t> </a:t>
            </a:r>
          </a:p>
          <a:p>
            <a:pPr>
              <a:buFont typeface="+mj-lt"/>
              <a:buAutoNum type="arabicPeriod"/>
            </a:pPr>
            <a:r>
              <a:rPr lang="en-GB" dirty="0" err="1" smtClean="0">
                <a:latin typeface="Times New Roman" panose="02020603050405020304" pitchFamily="18" charset="0"/>
                <a:cs typeface="Times New Roman" panose="02020603050405020304" pitchFamily="18" charset="0"/>
              </a:rPr>
              <a:t>Dilkash</a:t>
            </a:r>
            <a:endParaRPr lang="en-GB" dirty="0" smtClean="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314" y="3002280"/>
            <a:ext cx="1621971" cy="1621971"/>
          </a:xfrm>
          <a:prstGeom prst="rect">
            <a:avLst/>
          </a:prstGeom>
        </p:spPr>
      </p:pic>
      <p:sp>
        <p:nvSpPr>
          <p:cNvPr id="5" name="TextBox 4"/>
          <p:cNvSpPr txBox="1"/>
          <p:nvPr/>
        </p:nvSpPr>
        <p:spPr>
          <a:xfrm>
            <a:off x="1216236" y="4624251"/>
            <a:ext cx="846707" cy="369332"/>
          </a:xfrm>
          <a:prstGeom prst="rect">
            <a:avLst/>
          </a:prstGeom>
          <a:noFill/>
        </p:spPr>
        <p:txBody>
          <a:bodyPr wrap="none" rtlCol="0">
            <a:spAutoFit/>
          </a:bodyPr>
          <a:lstStyle/>
          <a:p>
            <a:r>
              <a:rPr lang="en-GB" dirty="0" smtClean="0"/>
              <a:t>Akbar </a:t>
            </a:r>
            <a:endParaRPr lang="en-US"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4308" y="3002280"/>
            <a:ext cx="1665514" cy="1665514"/>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44931" y="2983229"/>
            <a:ext cx="1660072" cy="1660072"/>
          </a:xfrm>
          <a:prstGeom prst="rect">
            <a:avLst/>
          </a:prstGeom>
        </p:spPr>
      </p:pic>
      <p:sp>
        <p:nvSpPr>
          <p:cNvPr id="9" name="TextBox 8"/>
          <p:cNvSpPr txBox="1"/>
          <p:nvPr/>
        </p:nvSpPr>
        <p:spPr>
          <a:xfrm>
            <a:off x="4334347" y="4624251"/>
            <a:ext cx="704039" cy="369332"/>
          </a:xfrm>
          <a:prstGeom prst="rect">
            <a:avLst/>
          </a:prstGeom>
          <a:noFill/>
        </p:spPr>
        <p:txBody>
          <a:bodyPr wrap="none" rtlCol="0">
            <a:spAutoFit/>
          </a:bodyPr>
          <a:lstStyle/>
          <a:p>
            <a:r>
              <a:rPr lang="en-GB" dirty="0" err="1" smtClean="0"/>
              <a:t>Uruj</a:t>
            </a:r>
            <a:r>
              <a:rPr lang="en-GB" dirty="0" smtClean="0"/>
              <a:t> </a:t>
            </a:r>
            <a:endParaRPr lang="en-US" dirty="0"/>
          </a:p>
        </p:txBody>
      </p:sp>
      <p:sp>
        <p:nvSpPr>
          <p:cNvPr id="10" name="TextBox 9"/>
          <p:cNvSpPr txBox="1"/>
          <p:nvPr/>
        </p:nvSpPr>
        <p:spPr>
          <a:xfrm>
            <a:off x="7140925" y="4624251"/>
            <a:ext cx="904415" cy="369332"/>
          </a:xfrm>
          <a:prstGeom prst="rect">
            <a:avLst/>
          </a:prstGeom>
          <a:noFill/>
        </p:spPr>
        <p:txBody>
          <a:bodyPr wrap="none" rtlCol="0">
            <a:spAutoFit/>
          </a:bodyPr>
          <a:lstStyle/>
          <a:p>
            <a:r>
              <a:rPr lang="en-GB" dirty="0" err="1" smtClean="0"/>
              <a:t>dilkash</a:t>
            </a:r>
            <a:endParaRPr lang="en-US" dirty="0"/>
          </a:p>
        </p:txBody>
      </p:sp>
      <p:sp>
        <p:nvSpPr>
          <p:cNvPr id="11" name="TextBox 10"/>
          <p:cNvSpPr txBox="1"/>
          <p:nvPr/>
        </p:nvSpPr>
        <p:spPr>
          <a:xfrm>
            <a:off x="827315" y="5486400"/>
            <a:ext cx="8168640" cy="369332"/>
          </a:xfrm>
          <a:prstGeom prst="rect">
            <a:avLst/>
          </a:prstGeom>
          <a:noFill/>
        </p:spPr>
        <p:txBody>
          <a:bodyPr wrap="square" rtlCol="0">
            <a:spAutoFit/>
          </a:bodyPr>
          <a:lstStyle/>
          <a:p>
            <a:r>
              <a:rPr lang="en-GB" dirty="0" smtClean="0">
                <a:latin typeface="Times New Roman" panose="02020603050405020304" pitchFamily="18" charset="0"/>
                <a:cs typeface="Times New Roman" panose="02020603050405020304" pitchFamily="18" charset="0"/>
              </a:rPr>
              <a:t>We have used total 375 data and each class has 125 data each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1432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208558" y="1067752"/>
            <a:ext cx="2311630" cy="2781437"/>
          </a:xfrm>
          <a:prstGeom prst="rect">
            <a:avLst/>
          </a:prstGeom>
        </p:spPr>
      </p:pic>
      <p:pic>
        <p:nvPicPr>
          <p:cNvPr id="5" name="Picture 4"/>
          <p:cNvPicPr>
            <a:picLocks noChangeAspect="1"/>
          </p:cNvPicPr>
          <p:nvPr/>
        </p:nvPicPr>
        <p:blipFill>
          <a:blip r:embed="rId3"/>
          <a:stretch>
            <a:fillRect/>
          </a:stretch>
        </p:blipFill>
        <p:spPr>
          <a:xfrm>
            <a:off x="4363676" y="1067752"/>
            <a:ext cx="4718240" cy="3068819"/>
          </a:xfrm>
          <a:prstGeom prst="rect">
            <a:avLst/>
          </a:prstGeom>
        </p:spPr>
      </p:pic>
      <p:sp>
        <p:nvSpPr>
          <p:cNvPr id="7" name="TextBox 6"/>
          <p:cNvSpPr txBox="1"/>
          <p:nvPr/>
        </p:nvSpPr>
        <p:spPr>
          <a:xfrm>
            <a:off x="4902926" y="4258492"/>
            <a:ext cx="4302035" cy="1600438"/>
          </a:xfrm>
          <a:prstGeom prst="rect">
            <a:avLst/>
          </a:prstGeom>
          <a:noFill/>
        </p:spPr>
        <p:txBody>
          <a:bodyPr wrap="square" rtlCol="0">
            <a:spAutoFit/>
          </a:bodyPr>
          <a:lstStyle/>
          <a:p>
            <a:pPr marL="285750" indent="-285750">
              <a:buFont typeface="Arial" panose="020B0604020202020204" pitchFamily="34" charset="0"/>
              <a:buChar char="•"/>
            </a:pPr>
            <a:r>
              <a:rPr lang="en-GB" sz="1400" dirty="0">
                <a:latin typeface="Times New Roman" panose="02020603050405020304" pitchFamily="18" charset="0"/>
                <a:cs typeface="Times New Roman" panose="02020603050405020304" pitchFamily="18" charset="0"/>
              </a:rPr>
              <a:t>The brightness distributions of the three classes overlap but show clear shifts. </a:t>
            </a:r>
            <a:r>
              <a:rPr lang="en-GB" sz="1400" dirty="0" err="1">
                <a:latin typeface="Times New Roman" panose="02020603050405020304" pitchFamily="18" charset="0"/>
                <a:cs typeface="Times New Roman" panose="02020603050405020304" pitchFamily="18" charset="0"/>
              </a:rPr>
              <a:t>Urooj</a:t>
            </a:r>
            <a:r>
              <a:rPr lang="en-GB" sz="1400" dirty="0">
                <a:latin typeface="Times New Roman" panose="02020603050405020304" pitchFamily="18" charset="0"/>
                <a:cs typeface="Times New Roman" panose="02020603050405020304" pitchFamily="18" charset="0"/>
              </a:rPr>
              <a:t> images are generally brighter, Akbar images are comparatively darker, while </a:t>
            </a:r>
            <a:r>
              <a:rPr lang="en-GB" sz="1400" dirty="0" err="1">
                <a:latin typeface="Times New Roman" panose="02020603050405020304" pitchFamily="18" charset="0"/>
                <a:cs typeface="Times New Roman" panose="02020603050405020304" pitchFamily="18" charset="0"/>
              </a:rPr>
              <a:t>Dilkash</a:t>
            </a:r>
            <a:r>
              <a:rPr lang="en-GB" sz="1400" dirty="0">
                <a:latin typeface="Times New Roman" panose="02020603050405020304" pitchFamily="18" charset="0"/>
                <a:cs typeface="Times New Roman" panose="02020603050405020304" pitchFamily="18" charset="0"/>
              </a:rPr>
              <a:t> falls in between. This variation suggests brightness can help the model differentiate between classes, but overlap may still cause confusion.</a:t>
            </a:r>
            <a:endParaRPr lang="en-US" sz="1400" dirty="0">
              <a:latin typeface="Times New Roman" panose="02020603050405020304" pitchFamily="18" charset="0"/>
              <a:cs typeface="Times New Roman" panose="02020603050405020304" pitchFamily="18" charset="0"/>
            </a:endParaRPr>
          </a:p>
        </p:txBody>
      </p:sp>
      <p:sp>
        <p:nvSpPr>
          <p:cNvPr id="8" name="TextBox 7"/>
          <p:cNvSpPr txBox="1"/>
          <p:nvPr/>
        </p:nvSpPr>
        <p:spPr>
          <a:xfrm>
            <a:off x="702343" y="4136571"/>
            <a:ext cx="3239589" cy="2031325"/>
          </a:xfrm>
          <a:prstGeom prst="rect">
            <a:avLst/>
          </a:prstGeom>
          <a:noFill/>
        </p:spPr>
        <p:txBody>
          <a:bodyPr wrap="square" rtlCol="0">
            <a:spAutoFit/>
          </a:bodyPr>
          <a:lstStyle/>
          <a:p>
            <a:pPr marL="285750" indent="-285750">
              <a:buFont typeface="Arial" panose="020B0604020202020204" pitchFamily="34" charset="0"/>
              <a:buChar char="•"/>
            </a:pPr>
            <a:r>
              <a:rPr lang="en-GB" sz="1400" dirty="0">
                <a:latin typeface="Times New Roman" panose="02020603050405020304" pitchFamily="18" charset="0"/>
                <a:cs typeface="Times New Roman" panose="02020603050405020304" pitchFamily="18" charset="0"/>
              </a:rPr>
              <a:t>The RGB histograms show similar </a:t>
            </a:r>
            <a:r>
              <a:rPr lang="en-GB" sz="1400" dirty="0" err="1">
                <a:latin typeface="Times New Roman" panose="02020603050405020304" pitchFamily="18" charset="0"/>
                <a:cs typeface="Times New Roman" panose="02020603050405020304" pitchFamily="18" charset="0"/>
              </a:rPr>
              <a:t>color</a:t>
            </a:r>
            <a:r>
              <a:rPr lang="en-GB" sz="1400" dirty="0">
                <a:latin typeface="Times New Roman" panose="02020603050405020304" pitchFamily="18" charset="0"/>
                <a:cs typeface="Times New Roman" panose="02020603050405020304" pitchFamily="18" charset="0"/>
              </a:rPr>
              <a:t> patterns across all three classes, with most pixel values concentrated in the mid range. </a:t>
            </a:r>
            <a:r>
              <a:rPr lang="en-GB" sz="1400" dirty="0" err="1">
                <a:latin typeface="Times New Roman" panose="02020603050405020304" pitchFamily="18" charset="0"/>
                <a:cs typeface="Times New Roman" panose="02020603050405020304" pitchFamily="18" charset="0"/>
              </a:rPr>
              <a:t>Urooj</a:t>
            </a:r>
            <a:r>
              <a:rPr lang="en-GB" sz="1400" dirty="0">
                <a:latin typeface="Times New Roman" panose="02020603050405020304" pitchFamily="18" charset="0"/>
                <a:cs typeface="Times New Roman" panose="02020603050405020304" pitchFamily="18" charset="0"/>
              </a:rPr>
              <a:t> images are slightly brighter, while Akbar appears a bit darker and more compact. Overall, </a:t>
            </a:r>
            <a:r>
              <a:rPr lang="en-GB" sz="1400" dirty="0" err="1">
                <a:latin typeface="Times New Roman" panose="02020603050405020304" pitchFamily="18" charset="0"/>
                <a:cs typeface="Times New Roman" panose="02020603050405020304" pitchFamily="18" charset="0"/>
              </a:rPr>
              <a:t>color</a:t>
            </a:r>
            <a:r>
              <a:rPr lang="en-GB" sz="1400" dirty="0">
                <a:latin typeface="Times New Roman" panose="02020603050405020304" pitchFamily="18" charset="0"/>
                <a:cs typeface="Times New Roman" panose="02020603050405020304" pitchFamily="18" charset="0"/>
              </a:rPr>
              <a:t> differences are subtle, so </a:t>
            </a:r>
            <a:r>
              <a:rPr lang="en-GB" sz="1400" dirty="0" err="1">
                <a:latin typeface="Times New Roman" panose="02020603050405020304" pitchFamily="18" charset="0"/>
                <a:cs typeface="Times New Roman" panose="02020603050405020304" pitchFamily="18" charset="0"/>
              </a:rPr>
              <a:t>color</a:t>
            </a:r>
            <a:r>
              <a:rPr lang="en-GB" sz="1400" dirty="0">
                <a:latin typeface="Times New Roman" panose="02020603050405020304" pitchFamily="18" charset="0"/>
                <a:cs typeface="Times New Roman" panose="02020603050405020304" pitchFamily="18" charset="0"/>
              </a:rPr>
              <a:t> alone may not strongly separate the classes.</a:t>
            </a:r>
            <a:endParaRPr lang="en-US" sz="14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1435672" y="638054"/>
            <a:ext cx="1690706" cy="307777"/>
          </a:xfrm>
          <a:prstGeom prst="rect">
            <a:avLst/>
          </a:prstGeom>
          <a:noFill/>
        </p:spPr>
        <p:txBody>
          <a:bodyPr wrap="square" rtlCol="0">
            <a:spAutoFit/>
          </a:bodyPr>
          <a:lstStyle/>
          <a:p>
            <a:r>
              <a:rPr lang="en-GB" sz="1400" dirty="0" smtClean="0">
                <a:latin typeface="Times New Roman" panose="02020603050405020304" pitchFamily="18" charset="0"/>
                <a:cs typeface="Times New Roman" panose="02020603050405020304" pitchFamily="18" charset="0"/>
              </a:rPr>
              <a:t>RGB HISTOGRAM</a:t>
            </a:r>
            <a:endParaRPr lang="en-US" sz="1400"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5495109" y="638053"/>
            <a:ext cx="2804159" cy="307777"/>
          </a:xfrm>
          <a:prstGeom prst="rect">
            <a:avLst/>
          </a:prstGeom>
          <a:noFill/>
        </p:spPr>
        <p:txBody>
          <a:bodyPr wrap="square" rtlCol="0">
            <a:spAutoFit/>
          </a:bodyPr>
          <a:lstStyle/>
          <a:p>
            <a:r>
              <a:rPr lang="en-GB" sz="1400" dirty="0" smtClean="0">
                <a:latin typeface="Times New Roman" panose="02020603050405020304" pitchFamily="18" charset="0"/>
                <a:cs typeface="Times New Roman" panose="02020603050405020304" pitchFamily="18" charset="0"/>
              </a:rPr>
              <a:t>BRIGHTNESS DISTRIBUTION</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97350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46619" y="1974595"/>
            <a:ext cx="6565103" cy="1569794"/>
          </a:xfrm>
          <a:prstGeom prst="rect">
            <a:avLst/>
          </a:prstGeom>
        </p:spPr>
      </p:pic>
      <p:pic>
        <p:nvPicPr>
          <p:cNvPr id="5" name="Picture 4"/>
          <p:cNvPicPr>
            <a:picLocks noChangeAspect="1"/>
          </p:cNvPicPr>
          <p:nvPr/>
        </p:nvPicPr>
        <p:blipFill>
          <a:blip r:embed="rId3"/>
          <a:stretch>
            <a:fillRect/>
          </a:stretch>
        </p:blipFill>
        <p:spPr>
          <a:xfrm>
            <a:off x="1446619" y="3681624"/>
            <a:ext cx="6556558" cy="1567962"/>
          </a:xfrm>
          <a:prstGeom prst="rect">
            <a:avLst/>
          </a:prstGeom>
        </p:spPr>
      </p:pic>
      <p:pic>
        <p:nvPicPr>
          <p:cNvPr id="6" name="Picture 5"/>
          <p:cNvPicPr>
            <a:picLocks noChangeAspect="1"/>
          </p:cNvPicPr>
          <p:nvPr/>
        </p:nvPicPr>
        <p:blipFill>
          <a:blip r:embed="rId4"/>
          <a:stretch>
            <a:fillRect/>
          </a:stretch>
        </p:blipFill>
        <p:spPr>
          <a:xfrm>
            <a:off x="1446620" y="290015"/>
            <a:ext cx="6470350" cy="1547346"/>
          </a:xfrm>
          <a:prstGeom prst="rect">
            <a:avLst/>
          </a:prstGeom>
        </p:spPr>
      </p:pic>
      <p:sp>
        <p:nvSpPr>
          <p:cNvPr id="7" name="TextBox 6"/>
          <p:cNvSpPr txBox="1"/>
          <p:nvPr/>
        </p:nvSpPr>
        <p:spPr>
          <a:xfrm>
            <a:off x="1446619" y="5590904"/>
            <a:ext cx="9491347" cy="738664"/>
          </a:xfrm>
          <a:prstGeom prst="rect">
            <a:avLst/>
          </a:prstGeom>
          <a:noFill/>
        </p:spPr>
        <p:txBody>
          <a:bodyPr wrap="square" rtlCol="0">
            <a:spAutoFit/>
          </a:bodyPr>
          <a:lstStyle/>
          <a:p>
            <a:r>
              <a:rPr lang="en-GB" sz="1400" dirty="0" smtClean="0">
                <a:latin typeface="Times New Roman" panose="02020603050405020304" pitchFamily="18" charset="0"/>
                <a:cs typeface="Times New Roman" panose="02020603050405020304" pitchFamily="18" charset="0"/>
              </a:rPr>
              <a:t>The </a:t>
            </a:r>
            <a:r>
              <a:rPr lang="en-GB" sz="1400" dirty="0">
                <a:latin typeface="Times New Roman" panose="02020603050405020304" pitchFamily="18" charset="0"/>
                <a:cs typeface="Times New Roman" panose="02020603050405020304" pitchFamily="18" charset="0"/>
              </a:rPr>
              <a:t>only augmentation that is clearly harmful is </a:t>
            </a:r>
            <a:r>
              <a:rPr lang="en-GB" sz="1400" dirty="0" err="1">
                <a:latin typeface="Times New Roman" panose="02020603050405020304" pitchFamily="18" charset="0"/>
                <a:cs typeface="Times New Roman" panose="02020603050405020304" pitchFamily="18" charset="0"/>
              </a:rPr>
              <a:t>center</a:t>
            </a:r>
            <a:r>
              <a:rPr lang="en-GB" sz="1400" dirty="0">
                <a:latin typeface="Times New Roman" panose="02020603050405020304" pitchFamily="18" charset="0"/>
                <a:cs typeface="Times New Roman" panose="02020603050405020304" pitchFamily="18" charset="0"/>
              </a:rPr>
              <a:t> crop. If the </a:t>
            </a:r>
            <a:r>
              <a:rPr lang="en-GB" sz="1400" dirty="0" err="1">
                <a:latin typeface="Times New Roman" panose="02020603050405020304" pitchFamily="18" charset="0"/>
                <a:cs typeface="Times New Roman" panose="02020603050405020304" pitchFamily="18" charset="0"/>
              </a:rPr>
              <a:t>center</a:t>
            </a:r>
            <a:r>
              <a:rPr lang="en-GB" sz="1400" dirty="0">
                <a:latin typeface="Times New Roman" panose="02020603050405020304" pitchFamily="18" charset="0"/>
                <a:cs typeface="Times New Roman" panose="02020603050405020304" pitchFamily="18" charset="0"/>
              </a:rPr>
              <a:t> crop is dimension is too low, it may not even keep the object in focus. </a:t>
            </a:r>
            <a:r>
              <a:rPr lang="en-GB" sz="1400" dirty="0" err="1">
                <a:latin typeface="Times New Roman" panose="02020603050405020304" pitchFamily="18" charset="0"/>
                <a:cs typeface="Times New Roman" panose="02020603050405020304" pitchFamily="18" charset="0"/>
              </a:rPr>
              <a:t>Gausian</a:t>
            </a:r>
            <a:r>
              <a:rPr lang="en-GB" sz="1400" dirty="0">
                <a:latin typeface="Times New Roman" panose="02020603050405020304" pitchFamily="18" charset="0"/>
                <a:cs typeface="Times New Roman" panose="02020603050405020304" pitchFamily="18" charset="0"/>
              </a:rPr>
              <a:t> blurs effect also differs based on how zoomed in the photo is. Horizontal flip seems useless if the position of the object in image is not fixed. The model will see objects in different position </a:t>
            </a:r>
            <a:r>
              <a:rPr lang="en-GB" sz="1400" dirty="0" err="1">
                <a:latin typeface="Times New Roman" panose="02020603050405020304" pitchFamily="18" charset="0"/>
                <a:cs typeface="Times New Roman" panose="02020603050405020304" pitchFamily="18" charset="0"/>
              </a:rPr>
              <a:t>nonethless</a:t>
            </a:r>
            <a:r>
              <a:rPr lang="en-GB" sz="1400" dirty="0">
                <a:latin typeface="Times New Roman" panose="02020603050405020304" pitchFamily="18" charset="0"/>
                <a:cs typeface="Times New Roman" panose="02020603050405020304" pitchFamily="18" charset="0"/>
              </a:rPr>
              <a:t> even if we don't use </a:t>
            </a:r>
            <a:r>
              <a:rPr lang="en-GB" sz="1400" dirty="0" err="1">
                <a:latin typeface="Times New Roman" panose="02020603050405020304" pitchFamily="18" charset="0"/>
                <a:cs typeface="Times New Roman" panose="02020603050405020304" pitchFamily="18" charset="0"/>
              </a:rPr>
              <a:t>HorizontalFlip</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6452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3495267" y="467678"/>
            <a:ext cx="6148600" cy="5367066"/>
          </a:xfrm>
          <a:prstGeom prst="rect">
            <a:avLst/>
          </a:prstGeom>
        </p:spPr>
      </p:pic>
      <p:sp>
        <p:nvSpPr>
          <p:cNvPr id="4" name="TextBox 3"/>
          <p:cNvSpPr txBox="1"/>
          <p:nvPr/>
        </p:nvSpPr>
        <p:spPr>
          <a:xfrm>
            <a:off x="1271451" y="2342606"/>
            <a:ext cx="1524000" cy="646331"/>
          </a:xfrm>
          <a:prstGeom prst="rect">
            <a:avLst/>
          </a:prstGeom>
          <a:noFill/>
        </p:spPr>
        <p:txBody>
          <a:bodyPr wrap="square" rtlCol="0">
            <a:spAutoFit/>
          </a:bodyPr>
          <a:lstStyle/>
          <a:p>
            <a:r>
              <a:rPr lang="en-GB" dirty="0" smtClean="0">
                <a:latin typeface="Times New Roman" panose="02020603050405020304" pitchFamily="18" charset="0"/>
                <a:cs typeface="Times New Roman" panose="02020603050405020304" pitchFamily="18" charset="0"/>
              </a:rPr>
              <a:t>TASK – 2 </a:t>
            </a:r>
          </a:p>
          <a:p>
            <a:endParaRPr lang="en-US" dirty="0"/>
          </a:p>
        </p:txBody>
      </p:sp>
    </p:spTree>
    <p:extLst>
      <p:ext uri="{BB962C8B-B14F-4D97-AF65-F5344CB8AC3E}">
        <p14:creationId xmlns:p14="http://schemas.microsoft.com/office/powerpoint/2010/main" val="3641952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97578" y="731520"/>
            <a:ext cx="7245532" cy="3108543"/>
          </a:xfrm>
          <a:prstGeom prst="rect">
            <a:avLst/>
          </a:prstGeom>
          <a:noFill/>
        </p:spPr>
        <p:txBody>
          <a:bodyPr wrap="square" rtlCol="0">
            <a:spAutoFit/>
          </a:bodyPr>
          <a:lstStyle/>
          <a:p>
            <a:r>
              <a:rPr lang="en-US" sz="2800" u="sng" dirty="0" smtClean="0">
                <a:latin typeface="Times New Roman" panose="02020603050405020304" pitchFamily="18" charset="0"/>
                <a:cs typeface="Times New Roman" panose="02020603050405020304" pitchFamily="18" charset="0"/>
              </a:rPr>
              <a:t>we select the following SSL methods:</a:t>
            </a:r>
          </a:p>
          <a:p>
            <a:pPr marL="514350" indent="-514350">
              <a:buFont typeface="+mj-lt"/>
              <a:buAutoNum type="arabicPeriod"/>
            </a:pPr>
            <a:endParaRPr lang="en-US" sz="2400" dirty="0" smtClean="0">
              <a:latin typeface="Times New Roman" panose="02020603050405020304" pitchFamily="18" charset="0"/>
              <a:cs typeface="Times New Roman" panose="02020603050405020304" pitchFamily="18" charset="0"/>
            </a:endParaRPr>
          </a:p>
          <a:p>
            <a:pPr marL="342900" lvl="0" indent="-342900">
              <a:buFont typeface="+mj-lt"/>
              <a:buAutoNum type="arabicPeriod"/>
            </a:pPr>
            <a:r>
              <a:rPr lang="en-US" sz="2400" dirty="0" err="1" smtClean="0">
                <a:latin typeface="Times New Roman" panose="02020603050405020304" pitchFamily="18" charset="0"/>
                <a:cs typeface="Times New Roman" panose="02020603050405020304" pitchFamily="18" charset="0"/>
              </a:rPr>
              <a:t>SimCLR</a:t>
            </a:r>
            <a:r>
              <a:rPr lang="en-US" sz="2400" dirty="0" smtClean="0">
                <a:latin typeface="Times New Roman" panose="02020603050405020304" pitchFamily="18" charset="0"/>
                <a:cs typeface="Times New Roman" panose="02020603050405020304" pitchFamily="18" charset="0"/>
              </a:rPr>
              <a:t> (A Simple Framework for Contrastive Learning of Visual Representations)</a:t>
            </a:r>
          </a:p>
          <a:p>
            <a:pPr marL="514350" lvl="0" indent="-514350">
              <a:buFont typeface="+mj-lt"/>
              <a:buAutoNum type="arabicPeriod"/>
            </a:pPr>
            <a:endParaRPr lang="en-US" sz="2400" dirty="0">
              <a:latin typeface="Times New Roman" panose="02020603050405020304" pitchFamily="18" charset="0"/>
              <a:cs typeface="Times New Roman" panose="02020603050405020304" pitchFamily="18" charset="0"/>
            </a:endParaRPr>
          </a:p>
          <a:p>
            <a:pPr marL="342900" lvl="0" indent="-342900">
              <a:buFont typeface="+mj-lt"/>
              <a:buAutoNum type="arabicPeriod"/>
            </a:pPr>
            <a:r>
              <a:rPr lang="en-US" sz="2400" dirty="0">
                <a:latin typeface="Times New Roman" panose="02020603050405020304" pitchFamily="18" charset="0"/>
                <a:cs typeface="Times New Roman" panose="02020603050405020304" pitchFamily="18" charset="0"/>
              </a:rPr>
              <a:t>BYOL (Bootstrap Your Own Latent</a:t>
            </a:r>
            <a:r>
              <a:rPr lang="en-US" sz="2400" dirty="0" smtClean="0">
                <a:latin typeface="Times New Roman" panose="02020603050405020304" pitchFamily="18" charset="0"/>
                <a:cs typeface="Times New Roman" panose="02020603050405020304" pitchFamily="18" charset="0"/>
              </a:rPr>
              <a:t>)</a:t>
            </a:r>
          </a:p>
          <a:p>
            <a:pPr marL="514350" lvl="0" indent="-514350">
              <a:buFont typeface="+mj-lt"/>
              <a:buAutoNum type="arabicPeriod"/>
            </a:pPr>
            <a:endParaRPr lang="en-US" sz="2400" dirty="0" smtClean="0">
              <a:latin typeface="Times New Roman" panose="02020603050405020304" pitchFamily="18" charset="0"/>
              <a:cs typeface="Times New Roman" panose="02020603050405020304" pitchFamily="18" charset="0"/>
            </a:endParaRPr>
          </a:p>
          <a:p>
            <a:pPr marL="342900" lvl="0" indent="-342900">
              <a:buFont typeface="+mj-lt"/>
              <a:buAutoNum type="arabicPeriod"/>
            </a:pPr>
            <a:r>
              <a:rPr lang="en-US" sz="2400" dirty="0" smtClean="0">
                <a:latin typeface="Times New Roman" panose="02020603050405020304" pitchFamily="18" charset="0"/>
                <a:cs typeface="Times New Roman" panose="02020603050405020304" pitchFamily="18" charset="0"/>
              </a:rPr>
              <a:t>Barlow Twins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71143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245325" y="496388"/>
            <a:ext cx="8090264" cy="923330"/>
          </a:xfrm>
          <a:prstGeom prst="rect">
            <a:avLst/>
          </a:prstGeom>
          <a:noFill/>
        </p:spPr>
        <p:txBody>
          <a:bodyPr wrap="square" rtlCol="0">
            <a:spAutoFit/>
          </a:bodyPr>
          <a:lstStyle/>
          <a:p>
            <a:r>
              <a:rPr lang="en-US" b="1" dirty="0" smtClean="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Comparison Table </a:t>
            </a:r>
            <a:r>
              <a:rPr lang="en-US" b="1" dirty="0" smtClean="0">
                <a:latin typeface="Times New Roman" panose="02020603050405020304" pitchFamily="18" charset="0"/>
                <a:cs typeface="Times New Roman" panose="02020603050405020304" pitchFamily="18" charset="0"/>
              </a:rPr>
              <a:t>Preparation of SIMCLR , BYOL , BARLOW TWINS </a:t>
            </a:r>
            <a:endParaRPr lang="en-US" b="1"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954678" y="1609997"/>
            <a:ext cx="7370716" cy="4635193"/>
          </a:xfrm>
          <a:prstGeom prst="rect">
            <a:avLst/>
          </a:prstGeom>
        </p:spPr>
      </p:pic>
    </p:spTree>
    <p:extLst>
      <p:ext uri="{BB962C8B-B14F-4D97-AF65-F5344CB8AC3E}">
        <p14:creationId xmlns:p14="http://schemas.microsoft.com/office/powerpoint/2010/main" val="27818868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1620278" y="1194043"/>
            <a:ext cx="7001207" cy="660883"/>
          </a:xfrm>
        </p:spPr>
        <p:txBody>
          <a:bodyPr/>
          <a:lstStyle/>
          <a:p>
            <a:pPr algn="ctr"/>
            <a:r>
              <a:rPr lang="en-GB" sz="4000" dirty="0" smtClean="0"/>
              <a:t>conclusion</a:t>
            </a:r>
            <a:endParaRPr lang="en-US" sz="4000" dirty="0"/>
          </a:p>
        </p:txBody>
      </p:sp>
      <p:sp>
        <p:nvSpPr>
          <p:cNvPr id="4" name="Subtitle 3"/>
          <p:cNvSpPr>
            <a:spLocks noGrp="1"/>
          </p:cNvSpPr>
          <p:nvPr>
            <p:ph type="subTitle" idx="1"/>
          </p:nvPr>
        </p:nvSpPr>
        <p:spPr>
          <a:xfrm>
            <a:off x="1298061" y="2081349"/>
            <a:ext cx="8046236" cy="2621280"/>
          </a:xfrm>
        </p:spPr>
        <p:txBody>
          <a:bodyPr>
            <a:noAutofit/>
          </a:bodyPr>
          <a:lstStyle/>
          <a:p>
            <a:pPr algn="just"/>
            <a:r>
              <a:rPr lang="en-GB" b="1" dirty="0">
                <a:latin typeface="Times New Roman" panose="02020603050405020304" pitchFamily="18" charset="0"/>
                <a:cs typeface="Times New Roman" panose="02020603050405020304" pitchFamily="18" charset="0"/>
              </a:rPr>
              <a:t>Barlow Twins achieves the best overall performance, delivering the highest accuracy, F1-score, and ROC-AUC across most evaluation settings, indicating strong representation learning. However, it requires significantly more </a:t>
            </a:r>
            <a:r>
              <a:rPr lang="en-GB" b="1" dirty="0" smtClean="0">
                <a:latin typeface="Times New Roman" panose="02020603050405020304" pitchFamily="18" charset="0"/>
                <a:cs typeface="Times New Roman" panose="02020603050405020304" pitchFamily="18" charset="0"/>
              </a:rPr>
              <a:t>pre training </a:t>
            </a:r>
            <a:r>
              <a:rPr lang="en-GB" b="1" dirty="0">
                <a:latin typeface="Times New Roman" panose="02020603050405020304" pitchFamily="18" charset="0"/>
                <a:cs typeface="Times New Roman" panose="02020603050405020304" pitchFamily="18" charset="0"/>
              </a:rPr>
              <a:t>time and computational resources. </a:t>
            </a:r>
            <a:r>
              <a:rPr lang="en-GB" b="1" dirty="0" err="1">
                <a:latin typeface="Times New Roman" panose="02020603050405020304" pitchFamily="18" charset="0"/>
                <a:cs typeface="Times New Roman" panose="02020603050405020304" pitchFamily="18" charset="0"/>
              </a:rPr>
              <a:t>SimCLR</a:t>
            </a:r>
            <a:r>
              <a:rPr lang="en-GB" b="1" dirty="0">
                <a:latin typeface="Times New Roman" panose="02020603050405020304" pitchFamily="18" charset="0"/>
                <a:cs typeface="Times New Roman" panose="02020603050405020304" pitchFamily="18" charset="0"/>
              </a:rPr>
              <a:t> is the most efficient model, offering fast training with stable but moderate performance. BYOL shows balanced results but does not outperform the other two models in this experiment. Overall, Barlow Twins is best for performance, while </a:t>
            </a:r>
            <a:r>
              <a:rPr lang="en-GB" b="1" dirty="0" err="1">
                <a:latin typeface="Times New Roman" panose="02020603050405020304" pitchFamily="18" charset="0"/>
                <a:cs typeface="Times New Roman" panose="02020603050405020304" pitchFamily="18" charset="0"/>
              </a:rPr>
              <a:t>SimCLR</a:t>
            </a:r>
            <a:r>
              <a:rPr lang="en-GB" b="1" dirty="0">
                <a:latin typeface="Times New Roman" panose="02020603050405020304" pitchFamily="18" charset="0"/>
                <a:cs typeface="Times New Roman" panose="02020603050405020304" pitchFamily="18" charset="0"/>
              </a:rPr>
              <a:t> is best for efficiency.</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370613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305</TotalTime>
  <Words>406</Words>
  <Application>Microsoft Office PowerPoint</Application>
  <PresentationFormat>Widescreen</PresentationFormat>
  <Paragraphs>41</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Times New Roman</vt:lpstr>
      <vt:lpstr>Trebuchet MS</vt:lpstr>
      <vt:lpstr>Wingdings 3</vt:lpstr>
      <vt:lpstr>Facet</vt:lpstr>
      <vt:lpstr>WELCOME </vt:lpstr>
      <vt:lpstr>Group - 10</vt:lpstr>
      <vt:lpstr>DATA SET DESCRIPTION </vt:lpstr>
      <vt:lpstr>PowerPoint Presentation</vt:lpstr>
      <vt:lpstr>PowerPoint Presentation</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dc:title>
  <dc:creator>Riyadh</dc:creator>
  <cp:lastModifiedBy>Riyadh</cp:lastModifiedBy>
  <cp:revision>14</cp:revision>
  <dcterms:created xsi:type="dcterms:W3CDTF">2025-12-16T12:49:58Z</dcterms:created>
  <dcterms:modified xsi:type="dcterms:W3CDTF">2025-12-16T17:55:12Z</dcterms:modified>
</cp:coreProperties>
</file>